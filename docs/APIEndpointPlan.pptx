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2958" y="10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"/>
          <p:cNvSpPr/>
          <p:nvPr/>
        </p:nvSpPr>
        <p:spPr>
          <a:xfrm>
            <a:off x="828039" y="6749644"/>
            <a:ext cx="6125844" cy="1871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8039" y="2627974"/>
            <a:ext cx="6125844" cy="36846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9795" y="1058832"/>
            <a:ext cx="6038816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0000"/>
                </a:solidFill>
                <a:latin typeface="Arial"/>
                <a:cs typeface="Arial"/>
              </a:rPr>
              <a:t>RaceDay — API Endpoint Plan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9795" y="1340462"/>
            <a:ext cx="5552700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alibri"/>
                <a:cs typeface="Calibri"/>
              </a:rPr>
              <a:t>Role Required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key: </a:t>
            </a: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None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= public, no auth needed · </a:t>
            </a: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Any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= any authenticated user · </a:t>
            </a: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Organiser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Participant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= that role only, and only for resources they own.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9795" y="2436446"/>
            <a:ext cx="1279323" cy="236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Arial"/>
                <a:cs typeface="Arial"/>
              </a:rPr>
              <a:t>Authentication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90231" y="2679538"/>
            <a:ext cx="447809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HTTP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58899" y="2679538"/>
            <a:ext cx="491669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Route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88157" y="2679538"/>
            <a:ext cx="80165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Description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23220" y="2679538"/>
            <a:ext cx="403518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83162" y="2679538"/>
            <a:ext cx="933412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Request Body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753761" y="2679538"/>
            <a:ext cx="124898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Expected Response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09815" y="2850074"/>
            <a:ext cx="608607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Method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890861" y="2850074"/>
            <a:ext cx="668226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Required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89456" y="3128560"/>
            <a:ext cx="44933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POST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13294" y="3128560"/>
            <a:ext cx="118282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/api/auth/register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692590" y="3128560"/>
            <a:ext cx="1192824" cy="890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8478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Creates a new</a:t>
            </a:r>
          </a:p>
          <a:p>
            <a:pPr marL="41529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account with the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chosen role so the</a:t>
            </a:r>
          </a:p>
          <a:p>
            <a:pPr marL="83858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user can access</a:t>
            </a:r>
          </a:p>
          <a:p>
            <a:pPr marL="17561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role-specific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995394" y="3128560"/>
            <a:ext cx="45915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4689" y="3128552"/>
            <a:ext cx="990334" cy="93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{ firstName,</a:t>
            </a:r>
          </a:p>
          <a:p>
            <a:pPr marL="104749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lastName,</a:t>
            </a:r>
          </a:p>
          <a:p>
            <a:pPr marL="209486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email,</a:t>
            </a:r>
          </a:p>
          <a:p>
            <a:pPr marL="104749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password,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phoneNumber,</a:t>
            </a:r>
          </a:p>
          <a:p>
            <a:pPr marL="209486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role }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739194" y="3128560"/>
            <a:ext cx="1278080" cy="890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201 Created — new</a:t>
            </a:r>
          </a:p>
          <a:p>
            <a:pPr marL="1910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user id, email, role.</a:t>
            </a:r>
          </a:p>
          <a:p>
            <a:pPr marL="6337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400 Bad Request —</a:t>
            </a:r>
          </a:p>
          <a:p>
            <a:pPr marL="77279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validation errors.</a:t>
            </a:r>
          </a:p>
          <a:p>
            <a:pPr marL="144741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409 Conflict —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959099" y="3981238"/>
            <a:ext cx="659767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features.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919826" y="3981238"/>
            <a:ext cx="916927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email already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012764" y="4151773"/>
            <a:ext cx="730981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registered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89456" y="4430259"/>
            <a:ext cx="449330" cy="1339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POST</a:t>
            </a:r>
          </a:p>
          <a:p>
            <a:pPr marL="0" marR="0">
              <a:lnSpc>
                <a:spcPts val="1342"/>
              </a:lnSpc>
              <a:spcBef>
                <a:spcPts val="756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POST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592656" y="4430259"/>
            <a:ext cx="1024092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/api/auth/login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742717" y="4430259"/>
            <a:ext cx="1092581" cy="106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257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Authenticates a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user and starts a</a:t>
            </a:r>
          </a:p>
          <a:p>
            <a:pPr marL="32816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session so their</a:t>
            </a:r>
          </a:p>
          <a:p>
            <a:pPr marL="1028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identity and role</a:t>
            </a:r>
          </a:p>
          <a:p>
            <a:pPr marL="85572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persist across</a:t>
            </a:r>
          </a:p>
          <a:p>
            <a:pPr marL="207136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requests.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995394" y="4430259"/>
            <a:ext cx="459153" cy="1339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  <a:p>
            <a:pPr marL="44640" marR="0">
              <a:lnSpc>
                <a:spcPts val="1342"/>
              </a:lnSpc>
              <a:spcBef>
                <a:spcPts val="756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Any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724526" y="4430251"/>
            <a:ext cx="850620" cy="335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24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{ email,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password }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736603" y="4430259"/>
            <a:ext cx="1283343" cy="890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9816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 session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established, user id,</a:t>
            </a:r>
          </a:p>
          <a:p>
            <a:pPr marL="313842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role. 401</a:t>
            </a:r>
          </a:p>
          <a:p>
            <a:pPr marL="98399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Unauthorized —</a:t>
            </a:r>
          </a:p>
          <a:p>
            <a:pPr marL="5013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invalid credentials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548460" y="5561422"/>
            <a:ext cx="1112552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/api/auth/logout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741726" y="5561422"/>
            <a:ext cx="1094531" cy="720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Ends the current</a:t>
            </a:r>
          </a:p>
          <a:p>
            <a:pPr marL="74193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session so the</a:t>
            </a:r>
          </a:p>
          <a:p>
            <a:pPr marL="72072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authenticated</a:t>
            </a:r>
          </a:p>
          <a:p>
            <a:pPr marL="26568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state is cleared.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920272" y="5561422"/>
            <a:ext cx="45915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5914022" y="5561422"/>
            <a:ext cx="928488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53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OK. 401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Unauthorized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899795" y="6509730"/>
            <a:ext cx="1081254" cy="236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Arial"/>
                <a:cs typeface="Arial"/>
              </a:rPr>
              <a:t>User Profile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929182" y="6752823"/>
            <a:ext cx="608607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416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HTTP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Method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790636" y="6752823"/>
            <a:ext cx="491669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Route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693847" y="6752823"/>
            <a:ext cx="80165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Description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694011" y="6752823"/>
            <a:ext cx="668227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35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Role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Required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522826" y="6752823"/>
            <a:ext cx="933412" cy="657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Request Body</a:t>
            </a:r>
          </a:p>
          <a:p>
            <a:pPr marL="237108" marR="0">
              <a:lnSpc>
                <a:spcPts val="1342"/>
              </a:lnSpc>
              <a:spcBef>
                <a:spcPts val="2242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5683592" y="6752823"/>
            <a:ext cx="124898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Expected Response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042339" y="7201844"/>
            <a:ext cx="382277" cy="828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GET</a:t>
            </a:r>
          </a:p>
          <a:p>
            <a:pPr marL="0" marR="0">
              <a:lnSpc>
                <a:spcPts val="1342"/>
              </a:lnSpc>
              <a:spcBef>
                <a:spcPts val="3585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PUT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552117" y="7201844"/>
            <a:ext cx="968635" cy="828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/api/users/me</a:t>
            </a:r>
          </a:p>
          <a:p>
            <a:pPr marL="0" marR="0">
              <a:lnSpc>
                <a:spcPts val="1342"/>
              </a:lnSpc>
              <a:spcBef>
                <a:spcPts val="3585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/api/users/me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572626" y="7201844"/>
            <a:ext cx="1044120" cy="549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058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Returns the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logged-in user's</a:t>
            </a:r>
          </a:p>
          <a:p>
            <a:pPr marL="102933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own profile.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3843185" y="7201844"/>
            <a:ext cx="369862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Any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5746508" y="7201844"/>
            <a:ext cx="1123113" cy="549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 profile</a:t>
            </a:r>
          </a:p>
          <a:p>
            <a:pPr marL="158051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details. 401</a:t>
            </a:r>
          </a:p>
          <a:p>
            <a:pPr marL="9734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Unauthorized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2572626" y="7821401"/>
            <a:ext cx="1044120" cy="720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8056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Updates the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logged-in user's</a:t>
            </a:r>
          </a:p>
          <a:p>
            <a:pPr marL="120573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own profile</a:t>
            </a:r>
          </a:p>
          <a:p>
            <a:pPr marL="240525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details.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3843185" y="7821401"/>
            <a:ext cx="369862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Any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4459440" y="7821394"/>
            <a:ext cx="1060171" cy="484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25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{ firstName,</a:t>
            </a:r>
          </a:p>
          <a:p>
            <a:pPr marL="139662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lastName,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phoneNumber }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5694120" y="7821401"/>
            <a:ext cx="1227865" cy="549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 updated</a:t>
            </a:r>
          </a:p>
          <a:p>
            <a:pPr marL="88163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profile. 400 Bad</a:t>
            </a:r>
          </a:p>
          <a:p>
            <a:pPr marL="16658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Request. 401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5843854" y="8333007"/>
            <a:ext cx="928488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Unauthorized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"/>
          <p:cNvSpPr/>
          <p:nvPr/>
        </p:nvSpPr>
        <p:spPr>
          <a:xfrm>
            <a:off x="828039" y="6366484"/>
            <a:ext cx="6125844" cy="27303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8039" y="1145527"/>
            <a:ext cx="6125844" cy="48323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99795" y="905613"/>
            <a:ext cx="695957" cy="236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Arial"/>
                <a:cs typeface="Arial"/>
              </a:rPr>
              <a:t>Events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7117" y="1148706"/>
            <a:ext cx="608607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416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HTTP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Method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10638" y="1148706"/>
            <a:ext cx="491669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Route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707817" y="1148706"/>
            <a:ext cx="80165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Description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63530" y="1148706"/>
            <a:ext cx="668226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35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Role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Required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564100" y="1148706"/>
            <a:ext cx="933412" cy="6576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Request Body</a:t>
            </a:r>
          </a:p>
          <a:p>
            <a:pPr marL="237109" marR="0">
              <a:lnSpc>
                <a:spcPts val="1342"/>
              </a:lnSpc>
              <a:spcBef>
                <a:spcPts val="2242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737250" y="1148706"/>
            <a:ext cx="124898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Expected Response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33005" y="1597728"/>
            <a:ext cx="37682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GET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51634" y="1597728"/>
            <a:ext cx="809631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/api/events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620530" y="1597728"/>
            <a:ext cx="976226" cy="720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Lists all events</a:t>
            </a:r>
          </a:p>
          <a:p>
            <a:pPr marL="6413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so anyone can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browse what's</a:t>
            </a:r>
          </a:p>
          <a:p>
            <a:pPr marL="320738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768064" y="1597728"/>
            <a:ext cx="45915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764999" y="1597728"/>
            <a:ext cx="1193469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 array of</a:t>
            </a:r>
          </a:p>
          <a:p>
            <a:pPr marL="332066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events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33005" y="2387820"/>
            <a:ext cx="37682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GET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527987" y="2387820"/>
            <a:ext cx="1056902" cy="828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/api/events/{id}</a:t>
            </a:r>
          </a:p>
          <a:p>
            <a:pPr marL="123647" marR="0">
              <a:lnSpc>
                <a:spcPts val="1342"/>
              </a:lnSpc>
              <a:spcBef>
                <a:spcPts val="3585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/api/events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674150" y="2387820"/>
            <a:ext cx="868983" cy="549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28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Returns full</a:t>
            </a:r>
          </a:p>
          <a:p>
            <a:pPr marL="2305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details for a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single event.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768064" y="2387820"/>
            <a:ext cx="45915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801209" y="2387820"/>
            <a:ext cx="45915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807405" y="2387820"/>
            <a:ext cx="1108707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 event.</a:t>
            </a:r>
          </a:p>
          <a:p>
            <a:pPr marL="55994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404 Not Found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96759" y="3007377"/>
            <a:ext cx="44933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POST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15209" y="3007377"/>
            <a:ext cx="986896" cy="890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6446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an</a:t>
            </a:r>
          </a:p>
          <a:p>
            <a:pPr marL="141134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  <a:p>
            <a:pPr marL="5054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create a new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event they will</a:t>
            </a:r>
          </a:p>
          <a:p>
            <a:pPr marL="172554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manage.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645344" y="3007377"/>
            <a:ext cx="70458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535627" y="3007369"/>
            <a:ext cx="990320" cy="93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4574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{ name,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description,</a:t>
            </a:r>
          </a:p>
          <a:p>
            <a:pPr marL="69837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eventDate,</a:t>
            </a:r>
          </a:p>
          <a:p>
            <a:pPr marL="104749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location,</a:t>
            </a:r>
          </a:p>
          <a:p>
            <a:pPr marL="104749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distance,</a:t>
            </a:r>
          </a:p>
          <a:p>
            <a:pPr marL="34925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eventType }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757875" y="3007377"/>
            <a:ext cx="1207670" cy="890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98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201 Created —</a:t>
            </a:r>
          </a:p>
          <a:p>
            <a:pPr marL="102933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event. 400 Bad</a:t>
            </a:r>
          </a:p>
          <a:p>
            <a:pPr marL="15648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Request. 401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Unauthorized. 403</a:t>
            </a:r>
          </a:p>
          <a:p>
            <a:pPr marL="236804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Forbidden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030274" y="4007553"/>
            <a:ext cx="382277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PUT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527987" y="4007553"/>
            <a:ext cx="2821939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/api/events/{id}</a:t>
            </a:r>
            <a:r>
              <a:rPr sz="1100" spc="9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the owning</a:t>
            </a:r>
            <a:r>
              <a:rPr sz="1100" spc="10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535627" y="4007545"/>
            <a:ext cx="990320" cy="930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4574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{ name,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description,</a:t>
            </a:r>
          </a:p>
          <a:p>
            <a:pPr marL="69837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eventDate,</a:t>
            </a:r>
          </a:p>
          <a:p>
            <a:pPr marL="104749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location,</a:t>
            </a:r>
          </a:p>
          <a:p>
            <a:pPr marL="104749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distance,</a:t>
            </a:r>
          </a:p>
          <a:p>
            <a:pPr marL="34925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eventType }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5733935" y="4007553"/>
            <a:ext cx="1255605" cy="890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843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 updated</a:t>
            </a:r>
          </a:p>
          <a:p>
            <a:pPr marL="126873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event. 400 Bad</a:t>
            </a:r>
          </a:p>
          <a:p>
            <a:pPr marL="180428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Request. 403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Forbidden. 404 Not</a:t>
            </a:r>
          </a:p>
          <a:p>
            <a:pPr marL="37257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Found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607437" y="4178088"/>
            <a:ext cx="1002396" cy="549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8907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  <a:p>
            <a:pPr marL="72275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update their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event's details.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936523" y="5007728"/>
            <a:ext cx="3413404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DELETE</a:t>
            </a:r>
            <a:r>
              <a:rPr sz="1100" spc="112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/api/events/{id}</a:t>
            </a:r>
            <a:r>
              <a:rPr sz="1100" spc="9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the owning</a:t>
            </a:r>
            <a:r>
              <a:rPr sz="1100" spc="1031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801209" y="5007728"/>
            <a:ext cx="45915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5733046" y="5007728"/>
            <a:ext cx="1257404" cy="549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118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204 No Content.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403 Forbidden. 404</a:t>
            </a:r>
          </a:p>
          <a:p>
            <a:pPr marL="252361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Not Found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728455" y="5178264"/>
            <a:ext cx="760428" cy="720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88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remove an</a:t>
            </a:r>
          </a:p>
          <a:p>
            <a:pPr marL="571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event they</a:t>
            </a:r>
          </a:p>
          <a:p>
            <a:pPr marL="69405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created.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899795" y="6126570"/>
            <a:ext cx="1012240" cy="236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Arial"/>
                <a:cs typeface="Arial"/>
              </a:rPr>
              <a:t>Categories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911720" y="6369664"/>
            <a:ext cx="608607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416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HTTP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Method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120201" y="6369664"/>
            <a:ext cx="491669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Route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303447" y="6369664"/>
            <a:ext cx="80165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Description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4220425" y="6369664"/>
            <a:ext cx="668227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35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Role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Required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4918748" y="6369664"/>
            <a:ext cx="933412" cy="6576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Request Body</a:t>
            </a:r>
          </a:p>
          <a:p>
            <a:pPr marL="237108" marR="0">
              <a:lnSpc>
                <a:spcPts val="1342"/>
              </a:lnSpc>
              <a:spcBef>
                <a:spcPts val="2242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6091657" y="6369664"/>
            <a:ext cx="697028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1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Expected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Response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027607" y="6818685"/>
            <a:ext cx="37682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GET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1517256" y="6818685"/>
            <a:ext cx="1697497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/api/events/{id}/categories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222269" y="6818685"/>
            <a:ext cx="963978" cy="720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72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Lists the</a:t>
            </a:r>
          </a:p>
          <a:p>
            <a:pPr marL="112484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categories</a:t>
            </a:r>
          </a:p>
          <a:p>
            <a:pPr marL="6781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available for a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specific event.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4324959" y="6818685"/>
            <a:ext cx="45915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5857075" y="6818685"/>
            <a:ext cx="1166180" cy="549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9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 array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of categories. 404</a:t>
            </a:r>
          </a:p>
          <a:p>
            <a:pPr marL="20675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Not Found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991362" y="7608777"/>
            <a:ext cx="44933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POST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1517256" y="7608777"/>
            <a:ext cx="1697497" cy="1339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/api/events/{id}/categories</a:t>
            </a:r>
          </a:p>
          <a:p>
            <a:pPr marL="215455" marR="0">
              <a:lnSpc>
                <a:spcPts val="1342"/>
              </a:lnSpc>
              <a:spcBef>
                <a:spcPts val="756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/api/categories/{id}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3229330" y="7608777"/>
            <a:ext cx="949862" cy="106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26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the</a:t>
            </a:r>
          </a:p>
          <a:p>
            <a:pPr marL="189661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owning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 add</a:t>
            </a:r>
          </a:p>
          <a:p>
            <a:pPr marL="228104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 new</a:t>
            </a:r>
          </a:p>
          <a:p>
            <a:pPr marL="75882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category to</a:t>
            </a:r>
          </a:p>
          <a:p>
            <a:pPr marL="68935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their event.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4202239" y="7608777"/>
            <a:ext cx="704583" cy="1339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  <a:p>
            <a:pPr marL="0" marR="0">
              <a:lnSpc>
                <a:spcPts val="1342"/>
              </a:lnSpc>
              <a:spcBef>
                <a:spcPts val="756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4925187" y="7608769"/>
            <a:ext cx="920477" cy="484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662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{ name,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description</a:t>
            </a:r>
          </a:p>
          <a:p>
            <a:pPr marL="349135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}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5868835" y="7608777"/>
            <a:ext cx="1142710" cy="890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443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201 Created —</a:t>
            </a:r>
          </a:p>
          <a:p>
            <a:pPr marL="108673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category. 400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Bad Request. 403</a:t>
            </a:r>
          </a:p>
          <a:p>
            <a:pPr marL="6463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Forbidden. 404</a:t>
            </a:r>
          </a:p>
          <a:p>
            <a:pPr marL="19499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Not Found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1024877" y="8739941"/>
            <a:ext cx="382277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PUT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3402596" y="8739941"/>
            <a:ext cx="603289" cy="379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the</a:t>
            </a:r>
          </a:p>
          <a:p>
            <a:pPr marL="16395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owning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4925187" y="8739934"/>
            <a:ext cx="920477" cy="335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662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{ name,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description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6080405" y="8739941"/>
            <a:ext cx="719480" cy="379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</a:t>
            </a:r>
          </a:p>
          <a:p>
            <a:pPr marL="4516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updated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"/>
          <p:cNvSpPr/>
          <p:nvPr/>
        </p:nvSpPr>
        <p:spPr>
          <a:xfrm>
            <a:off x="828039" y="8771051"/>
            <a:ext cx="6125844" cy="29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828039" y="3396068"/>
            <a:ext cx="6125844" cy="49863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8039" y="902969"/>
            <a:ext cx="6125844" cy="2104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25304" y="906149"/>
            <a:ext cx="957904" cy="549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 edit</a:t>
            </a:r>
          </a:p>
          <a:p>
            <a:pPr marL="99453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an existing</a:t>
            </a:r>
          </a:p>
          <a:p>
            <a:pPr marL="138302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category.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74322" y="906141"/>
            <a:ext cx="222225" cy="186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68835" y="906149"/>
            <a:ext cx="1142710" cy="720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73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category. 400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Bad Request. 403</a:t>
            </a:r>
          </a:p>
          <a:p>
            <a:pPr marL="6463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Forbidden. 404</a:t>
            </a:r>
          </a:p>
          <a:p>
            <a:pPr marL="194995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Not Found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31125" y="1696241"/>
            <a:ext cx="569862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DELETE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32711" y="1696241"/>
            <a:ext cx="1266589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/api/categories/{id}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27146" y="1696241"/>
            <a:ext cx="954254" cy="106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545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the</a:t>
            </a:r>
          </a:p>
          <a:p>
            <a:pPr marL="191846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owning</a:t>
            </a:r>
          </a:p>
          <a:p>
            <a:pPr marL="124828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  <a:p>
            <a:pPr marL="133629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remove a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category from</a:t>
            </a:r>
          </a:p>
          <a:p>
            <a:pPr marL="71119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their event.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02239" y="1696241"/>
            <a:ext cx="70458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155857" y="1696241"/>
            <a:ext cx="45915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897588" y="1696241"/>
            <a:ext cx="1085098" cy="890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204 No Content.</a:t>
            </a:r>
          </a:p>
          <a:p>
            <a:pPr marL="35877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403 Forbidden.</a:t>
            </a:r>
          </a:p>
          <a:p>
            <a:pPr marL="26606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404 Not Found.</a:t>
            </a:r>
          </a:p>
          <a:p>
            <a:pPr marL="4826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409 Conflict —</a:t>
            </a:r>
          </a:p>
          <a:p>
            <a:pPr marL="129298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participants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901652" y="2548919"/>
            <a:ext cx="1076989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already enrolled</a:t>
            </a:r>
          </a:p>
          <a:p>
            <a:pPr marL="354367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in it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99795" y="3156155"/>
            <a:ext cx="1555775" cy="236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Arial"/>
                <a:cs typeface="Arial"/>
              </a:rPr>
              <a:t>Event Enrolments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06322" y="3399248"/>
            <a:ext cx="608607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416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HTTP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Method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142744" y="3399248"/>
            <a:ext cx="491669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Route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339325" y="3399248"/>
            <a:ext cx="80165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Description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264240" y="3399248"/>
            <a:ext cx="668227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35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Role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Required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095150" y="3399248"/>
            <a:ext cx="615500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Request</a:t>
            </a:r>
          </a:p>
          <a:p>
            <a:pPr marL="88404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Body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073241" y="3399248"/>
            <a:ext cx="697028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1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Expected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Response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85964" y="3848269"/>
            <a:ext cx="44933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POST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506486" y="3848269"/>
            <a:ext cx="1764134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/api/events/{id}/enrolments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268548" y="3848269"/>
            <a:ext cx="943242" cy="890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318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a</a:t>
            </a:r>
          </a:p>
          <a:p>
            <a:pPr marL="86258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Participant</a:t>
            </a:r>
          </a:p>
          <a:p>
            <a:pPr marL="130797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enter the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event under a</a:t>
            </a:r>
          </a:p>
          <a:p>
            <a:pPr marL="19356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chosen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213008" y="3848269"/>
            <a:ext cx="770706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Participant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291784" y="3848262"/>
            <a:ext cx="222225" cy="186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{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850420" y="3848269"/>
            <a:ext cx="1142710" cy="14023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443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201 Created —</a:t>
            </a:r>
          </a:p>
          <a:p>
            <a:pPr marL="56172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enrolment. 400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Bad Request. 401</a:t>
            </a:r>
          </a:p>
          <a:p>
            <a:pPr marL="89471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Unauthorized.</a:t>
            </a:r>
          </a:p>
          <a:p>
            <a:pPr marL="5535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404 Not Found.</a:t>
            </a:r>
          </a:p>
          <a:p>
            <a:pPr marL="77012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409 Conflict —</a:t>
            </a:r>
          </a:p>
          <a:p>
            <a:pPr marL="32816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already enrolled</a:t>
            </a:r>
          </a:p>
          <a:p>
            <a:pPr marL="14621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in this event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977574" y="3996966"/>
            <a:ext cx="850651" cy="186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categoryId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291784" y="4145670"/>
            <a:ext cx="222225" cy="186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}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399485" y="4700947"/>
            <a:ext cx="681365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category.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022210" y="5320504"/>
            <a:ext cx="376820" cy="1169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GET</a:t>
            </a:r>
          </a:p>
          <a:p>
            <a:pPr marL="0" marR="0">
              <a:lnSpc>
                <a:spcPts val="1342"/>
              </a:lnSpc>
              <a:spcBef>
                <a:spcPts val="6271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GET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728038" y="5320504"/>
            <a:ext cx="1321068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/api/enrolments/me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312071" y="5320504"/>
            <a:ext cx="856152" cy="720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80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Lists the</a:t>
            </a:r>
          </a:p>
          <a:p>
            <a:pPr marL="87693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logged-in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Participant's</a:t>
            </a:r>
          </a:p>
          <a:p>
            <a:pPr marL="228409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own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213008" y="5320504"/>
            <a:ext cx="770706" cy="1169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Participant</a:t>
            </a:r>
          </a:p>
          <a:p>
            <a:pPr marL="33045" marR="0">
              <a:lnSpc>
                <a:spcPts val="1342"/>
              </a:lnSpc>
              <a:spcBef>
                <a:spcPts val="6271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5173319" y="5320504"/>
            <a:ext cx="459153" cy="1169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  <a:p>
            <a:pPr marL="0" marR="0">
              <a:lnSpc>
                <a:spcPts val="1342"/>
              </a:lnSpc>
              <a:spcBef>
                <a:spcPts val="6271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5825007" y="5320504"/>
            <a:ext cx="1193469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 array of</a:t>
            </a:r>
          </a:p>
          <a:p>
            <a:pPr marL="193903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enrolments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319678" y="6002647"/>
            <a:ext cx="84094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enrolments.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506486" y="6281132"/>
            <a:ext cx="1764134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/api/events/{id}/enrolments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275228" y="6281132"/>
            <a:ext cx="929768" cy="720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24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the</a:t>
            </a:r>
          </a:p>
          <a:p>
            <a:pPr marL="179641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owning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 see</a:t>
            </a:r>
          </a:p>
          <a:p>
            <a:pPr marL="123406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everyone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5825007" y="6281132"/>
            <a:ext cx="1193469" cy="720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 array of</a:t>
            </a:r>
          </a:p>
          <a:p>
            <a:pPr marL="54267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enrolments. 403</a:t>
            </a:r>
          </a:p>
          <a:p>
            <a:pPr marL="90042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Forbidden. 404</a:t>
            </a:r>
          </a:p>
          <a:p>
            <a:pPr marL="220408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Not Found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3334143" y="6963274"/>
            <a:ext cx="811985" cy="379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33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enrolled in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their event.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925728" y="7412296"/>
            <a:ext cx="569862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DELETE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721929" y="7412296"/>
            <a:ext cx="133323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/api/enrolments/{id}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3354806" y="7412296"/>
            <a:ext cx="770706" cy="549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05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a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Participant</a:t>
            </a:r>
          </a:p>
          <a:p>
            <a:pPr marL="38646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withdraw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213008" y="7412296"/>
            <a:ext cx="770706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Participant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5173319" y="7412296"/>
            <a:ext cx="459153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5879173" y="7412296"/>
            <a:ext cx="1085098" cy="549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204 No Content.</a:t>
            </a:r>
          </a:p>
          <a:p>
            <a:pPr marL="35877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403 Forbidden.</a:t>
            </a:r>
          </a:p>
          <a:p>
            <a:pPr marL="44234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404 Not Found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3262757" y="7923902"/>
            <a:ext cx="954831" cy="379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from an event</a:t>
            </a:r>
          </a:p>
          <a:p>
            <a:pPr marL="15887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they entered.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899795" y="8531138"/>
            <a:ext cx="745269" cy="236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Arial"/>
                <a:cs typeface="Arial"/>
              </a:rPr>
              <a:t>Results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989279" y="8774231"/>
            <a:ext cx="447809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HTTP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2010981" y="8774231"/>
            <a:ext cx="491669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Route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3133902" y="8774231"/>
            <a:ext cx="80165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Description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4255630" y="8774231"/>
            <a:ext cx="403519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Role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4985740" y="8774231"/>
            <a:ext cx="933412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Request Body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6204737" y="8774231"/>
            <a:ext cx="672836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Expected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828039" y="902969"/>
            <a:ext cx="6125844" cy="53274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8862" y="906149"/>
            <a:ext cx="608607" cy="487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Method</a:t>
            </a:r>
          </a:p>
          <a:p>
            <a:pPr marL="79641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POST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23270" y="906149"/>
            <a:ext cx="668227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Required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92621" y="906149"/>
            <a:ext cx="697028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Response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11490" y="1184626"/>
            <a:ext cx="4505846" cy="208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/api/events/{id}/results</a:t>
            </a:r>
            <a:r>
              <a:rPr sz="1100" spc="99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the owning</a:t>
            </a:r>
            <a:r>
              <a:rPr sz="1100" spc="129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  <a:r>
              <a:rPr sz="1100" spc="156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{ enrolmentId,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83719" y="1184634"/>
            <a:ext cx="914859" cy="106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556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201 Created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— result. 400</a:t>
            </a:r>
          </a:p>
          <a:p>
            <a:pPr marL="808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Bad Request.</a:t>
            </a:r>
          </a:p>
          <a:p>
            <a:pPr marL="275005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403</a:t>
            </a:r>
          </a:p>
          <a:p>
            <a:pPr marL="7271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Forbidden.</a:t>
            </a:r>
          </a:p>
          <a:p>
            <a:pPr marL="153885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404 Not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87442" y="1333331"/>
            <a:ext cx="1129952" cy="484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736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finishTime,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finishPosition</a:t>
            </a:r>
          </a:p>
          <a:p>
            <a:pPr marL="453872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}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36011" y="1355170"/>
            <a:ext cx="997360" cy="106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418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  <a:p>
            <a:pPr marL="154368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capture a</a:t>
            </a:r>
          </a:p>
          <a:p>
            <a:pPr marL="70027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participant's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finish time and</a:t>
            </a:r>
          </a:p>
          <a:p>
            <a:pPr marL="39598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position after</a:t>
            </a:r>
          </a:p>
          <a:p>
            <a:pPr marL="133083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the event.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85902" y="2207848"/>
            <a:ext cx="510505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Found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22019" y="2486334"/>
            <a:ext cx="382277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PUT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26933" y="2486334"/>
            <a:ext cx="1059699" cy="16808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/api/results/{id}</a:t>
            </a:r>
          </a:p>
          <a:p>
            <a:pPr marL="6108" marR="0">
              <a:lnSpc>
                <a:spcPts val="1342"/>
              </a:lnSpc>
              <a:spcBef>
                <a:spcPts val="10299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/api/results/me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06953" y="2486334"/>
            <a:ext cx="1802713" cy="890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the owning</a:t>
            </a:r>
            <a:r>
              <a:rPr sz="1100" spc="129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  <a:p>
            <a:pPr marL="175475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  <a:p>
            <a:pPr marL="19955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correct a</a:t>
            </a:r>
          </a:p>
          <a:p>
            <a:pPr marL="159689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previously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captured result.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887442" y="2486326"/>
            <a:ext cx="1129952" cy="484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912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{ finishTime,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finishPosition</a:t>
            </a:r>
          </a:p>
          <a:p>
            <a:pPr marL="453872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}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091809" y="2486334"/>
            <a:ext cx="898599" cy="890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6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</a:t>
            </a:r>
          </a:p>
          <a:p>
            <a:pPr marL="134721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updated</a:t>
            </a:r>
          </a:p>
          <a:p>
            <a:pPr marL="70942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result. 400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Bad Request.</a:t>
            </a:r>
          </a:p>
          <a:p>
            <a:pPr marL="266915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403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156439" y="3339012"/>
            <a:ext cx="769385" cy="379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Forbidden.</a:t>
            </a:r>
          </a:p>
          <a:p>
            <a:pPr marL="81165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404 Not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285902" y="3680083"/>
            <a:ext cx="510505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Found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24750" y="3958569"/>
            <a:ext cx="376820" cy="1339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GET</a:t>
            </a:r>
          </a:p>
          <a:p>
            <a:pPr marL="0" marR="0">
              <a:lnSpc>
                <a:spcPts val="1342"/>
              </a:lnSpc>
              <a:spcBef>
                <a:spcPts val="756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GET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294443" y="3958569"/>
            <a:ext cx="480555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a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072038" y="3958569"/>
            <a:ext cx="770706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Participant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222849" y="3958569"/>
            <a:ext cx="459153" cy="1339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  <a:p>
            <a:pPr marL="0" marR="0">
              <a:lnSpc>
                <a:spcPts val="1342"/>
              </a:lnSpc>
              <a:spcBef>
                <a:spcPts val="7564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None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181369" y="3958569"/>
            <a:ext cx="719480" cy="549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</a:t>
            </a:r>
          </a:p>
          <a:p>
            <a:pPr marL="62382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array of</a:t>
            </a:r>
          </a:p>
          <a:p>
            <a:pPr marL="93687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results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001327" y="4129105"/>
            <a:ext cx="1066854" cy="890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Participant view</a:t>
            </a:r>
          </a:p>
          <a:p>
            <a:pPr marL="182714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their own</a:t>
            </a:r>
          </a:p>
          <a:p>
            <a:pPr marL="72707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results across</a:t>
            </a:r>
          </a:p>
          <a:p>
            <a:pPr marL="44742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events they've</a:t>
            </a:r>
          </a:p>
          <a:p>
            <a:pPr marL="135064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completed.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511490" y="5089732"/>
            <a:ext cx="3298176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/api/events/{id}/results</a:t>
            </a:r>
            <a:r>
              <a:rPr sz="1100" spc="999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Lets the owning</a:t>
            </a:r>
            <a:r>
              <a:rPr sz="1100" spc="1296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135420" y="5089732"/>
            <a:ext cx="811342" cy="890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948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200 OK —</a:t>
            </a:r>
          </a:p>
          <a:p>
            <a:pPr marL="10833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array of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results. 403</a:t>
            </a:r>
          </a:p>
          <a:p>
            <a:pPr marL="21018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Forbidden.</a:t>
            </a:r>
          </a:p>
          <a:p>
            <a:pPr marL="102184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404 Not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034373" y="5260268"/>
            <a:ext cx="1000636" cy="720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Organiser view</a:t>
            </a:r>
          </a:p>
          <a:p>
            <a:pPr marL="17767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the full results</a:t>
            </a:r>
          </a:p>
          <a:p>
            <a:pPr marL="92049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list for their</a:t>
            </a:r>
          </a:p>
          <a:p>
            <a:pPr marL="245364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event.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285902" y="5942410"/>
            <a:ext cx="510505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Found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99795" y="6379110"/>
            <a:ext cx="1190218" cy="236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Arial"/>
                <a:cs typeface="Arial"/>
              </a:rPr>
              <a:t>Design notes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128395" y="6632565"/>
            <a:ext cx="236233" cy="19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356944" y="6615853"/>
            <a:ext cx="4261600" cy="208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alibri"/>
                <a:cs typeface="Calibri"/>
              </a:rPr>
              <a:t>Browsing is public. </a:t>
            </a: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GET /api/events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, </a:t>
            </a: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GET /api/events/{id}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GET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356995" y="6786389"/>
            <a:ext cx="5579833" cy="720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/api/events/{id}/categories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have </a:t>
            </a: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Role Required: None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— this mirrors real event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platforms where anyone can see what's on before creating an account. Everything that reads or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writes personal data (profile, enrolments, results) or mutates an Organiser's own resources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requires authentication.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128395" y="7586844"/>
            <a:ext cx="236233" cy="809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3632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356944" y="7570131"/>
            <a:ext cx="5488514" cy="549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alibri"/>
                <a:cs typeface="Calibri"/>
              </a:rPr>
              <a:t>Ownership, not just role.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"Organiser" in this table always means </a:t>
            </a:r>
            <a:r>
              <a:rPr sz="1100" i="1" dirty="0">
                <a:solidFill>
                  <a:srgbClr val="000000"/>
                </a:solidFill>
                <a:latin typeface="Calibri"/>
                <a:cs typeface="Calibri"/>
              </a:rPr>
              <a:t>the Organiser who owns that</a:t>
            </a:r>
          </a:p>
          <a:p>
            <a:pPr marL="5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i="1" dirty="0">
                <a:solidFill>
                  <a:srgbClr val="000000"/>
                </a:solidFill>
                <a:latin typeface="Calibri"/>
                <a:cs typeface="Calibri"/>
              </a:rPr>
              <a:t>event 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— the API must check </a:t>
            </a: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Event.OrganiserId == currentUserId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in addition to checking</a:t>
            </a:r>
          </a:p>
          <a:p>
            <a:pPr marL="5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the role claim, or one Organiser could edit another's event.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356944" y="8183338"/>
            <a:ext cx="5553168" cy="7202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/>
                </a:solidFill>
                <a:latin typeface="Calibri"/>
                <a:cs typeface="Calibri"/>
              </a:rPr>
              <a:t>21 endpoints total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, three more than the six required areas strictly demand (</a:t>
            </a: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logout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, </a:t>
            </a: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DELETE</a:t>
            </a:r>
          </a:p>
          <a:p>
            <a:pPr marL="5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/api/enrolments/{id}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, </a:t>
            </a:r>
            <a:r>
              <a:rPr sz="1000" dirty="0">
                <a:solidFill>
                  <a:srgbClr val="C7254E"/>
                </a:solidFill>
                <a:highlight>
                  <a:srgbClr val="F9F2F4"/>
                </a:highlight>
                <a:latin typeface="Consolas"/>
                <a:cs typeface="Consolas"/>
              </a:rPr>
              <a:t>PUT /api/results/{id}</a:t>
            </a: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) — included because session management</a:t>
            </a:r>
          </a:p>
          <a:p>
            <a:pPr marL="5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and correcting a mis-captured result are realistic, necessary parts of the functionality described</a:t>
            </a:r>
          </a:p>
          <a:p>
            <a:pPr marL="5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Calibri"/>
                <a:cs typeface="Calibri"/>
              </a:rPr>
              <a:t>in Part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1080</Words>
  <Application>Microsoft Office PowerPoint</Application>
  <PresentationFormat>Custom</PresentationFormat>
  <Paragraphs>393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Consolas</vt:lpstr>
      <vt:lpstr>Calibri</vt:lpstr>
      <vt:lpstr>Courier New</vt:lpstr>
      <vt:lpstr>Theme Office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app</dc:creator>
  <cp:lastModifiedBy>Mogale Montjane Nchabeleng</cp:lastModifiedBy>
  <cp:revision>2</cp:revision>
  <dcterms:modified xsi:type="dcterms:W3CDTF">2026-09-04T19:31:50Z</dcterms:modified>
</cp:coreProperties>
</file>